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Lato" panose="020F0502020204030203" pitchFamily="34" charset="0"/>
      <p:regular r:id="rId20"/>
      <p:bold r:id="rId21"/>
    </p:embeddedFont>
    <p:embeddedFont>
      <p:font typeface="Lato Bold" panose="020F0502020204030203" charset="0"/>
      <p:regular r:id="rId22"/>
    </p:embeddedFont>
    <p:embeddedFont>
      <p:font typeface="Lato Light" panose="020F0502020204030203" pitchFamily="34" charset="0"/>
      <p:regular r:id="rId23"/>
      <p: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-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32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806123_NADA_NMSU_Advising_Degree_Audit_System" TargetMode="External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360131520302839?utm_source=chatgpt.com" TargetMode="External"/><Relationship Id="rId5" Type="http://schemas.openxmlformats.org/officeDocument/2006/relationships/hyperlink" Target="https://thekeep.eiu.edu/cgi/viewcontent.cgi?article=1092&amp;context=jnams" TargetMode="External"/><Relationship Id="rId4" Type="http://schemas.openxmlformats.org/officeDocument/2006/relationships/hyperlink" Target="https://www.sciencedirect.com/science/article/abs/pii/S1096751625000661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02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Creditcore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030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Academic Progress and Degree Audit Tracking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15086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A4A4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2397224"/>
            <a:ext cx="5470785" cy="4096668"/>
          </a:xfrm>
          <a:prstGeom prst="roundRect">
            <a:avLst>
              <a:gd name="adj" fmla="val 721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56252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Team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710" y="3027660"/>
            <a:ext cx="165294" cy="1652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7710" y="3268960"/>
            <a:ext cx="5140196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9" name="Text 6"/>
          <p:cNvSpPr/>
          <p:nvPr/>
        </p:nvSpPr>
        <p:spPr>
          <a:xfrm>
            <a:off x="707710" y="3389709"/>
            <a:ext cx="51401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K. </a:t>
            </a:r>
            <a:r>
              <a:rPr lang="en-US" sz="1300" dirty="0" err="1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Tejaswanth</a:t>
            </a: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- 2300031638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710" y="3964285"/>
            <a:ext cx="165294" cy="16529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07710" y="4205585"/>
            <a:ext cx="5140196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2" name="Text 8"/>
          <p:cNvSpPr/>
          <p:nvPr/>
        </p:nvSpPr>
        <p:spPr>
          <a:xfrm>
            <a:off x="707710" y="4326334"/>
            <a:ext cx="51401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K. Pavani        - 2300033843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710" y="4900910"/>
            <a:ext cx="165294" cy="16529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07710" y="5142210"/>
            <a:ext cx="5140196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5" name="Text 10"/>
          <p:cNvSpPr/>
          <p:nvPr/>
        </p:nvSpPr>
        <p:spPr>
          <a:xfrm>
            <a:off x="707710" y="5262959"/>
            <a:ext cx="51401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N. Sowjanya   - 2300031099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3904" y="25625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Academic Details</a:t>
            </a:r>
            <a:endParaRPr lang="en-US" sz="16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4854" y="2987973"/>
            <a:ext cx="2531999" cy="9910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07297" y="3007023"/>
            <a:ext cx="23095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07297" y="3395167"/>
            <a:ext cx="230955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Computer Science &amp; Engineering / AI &amp; Data Science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04472" y="2987973"/>
            <a:ext cx="2532098" cy="9910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26914" y="3007023"/>
            <a:ext cx="23096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Batch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9226914" y="3430786"/>
            <a:ext cx="230965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Y23 B.Tech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4854" y="4271665"/>
            <a:ext cx="5251715" cy="726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07297" y="4290715"/>
            <a:ext cx="502927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Guide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507297" y="4714478"/>
            <a:ext cx="502927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Dr. K. Sripath Roy</a:t>
            </a:r>
            <a:endParaRPr lang="en-US" sz="13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150ABBEF-AB9B-9A2A-CD17-36758E0CA396}"/>
              </a:ext>
            </a:extLst>
          </p:cNvPr>
          <p:cNvSpPr/>
          <p:nvPr/>
        </p:nvSpPr>
        <p:spPr>
          <a:xfrm>
            <a:off x="707710" y="6071672"/>
            <a:ext cx="5140196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EB8506DD-FD9E-D315-5AA8-0B2E18A938D1}"/>
              </a:ext>
            </a:extLst>
          </p:cNvPr>
          <p:cNvSpPr/>
          <p:nvPr/>
        </p:nvSpPr>
        <p:spPr>
          <a:xfrm>
            <a:off x="704376" y="6123186"/>
            <a:ext cx="51401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P. Pradeepthi - 2300031006</a:t>
            </a:r>
            <a:endParaRPr lang="en-US" sz="1300" dirty="0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9DEF2C9D-9224-9E88-CCA7-16B78E7E5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816" y="5807493"/>
            <a:ext cx="165294" cy="165298"/>
          </a:xfrm>
          <a:prstGeom prst="rect">
            <a:avLst/>
          </a:prstGeom>
        </p:spPr>
      </p:pic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F900863B-3B77-87D1-BC1D-7C67F4897D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1933" y="4263827"/>
            <a:ext cx="2532098" cy="734318"/>
          </a:xfrm>
          <a:prstGeom prst="rect">
            <a:avLst/>
          </a:prstGeom>
        </p:spPr>
      </p:pic>
      <p:sp>
        <p:nvSpPr>
          <p:cNvPr id="35" name="Text 14">
            <a:extLst>
              <a:ext uri="{FF2B5EF4-FFF2-40B4-BE49-F238E27FC236}">
                <a16:creationId xmlns:a16="http://schemas.microsoft.com/office/drawing/2014/main" id="{BDCEF8E6-003C-38FE-47C1-D9C6CDC4AF5C}"/>
              </a:ext>
            </a:extLst>
          </p:cNvPr>
          <p:cNvSpPr/>
          <p:nvPr/>
        </p:nvSpPr>
        <p:spPr>
          <a:xfrm>
            <a:off x="9226913" y="4308364"/>
            <a:ext cx="23096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Domain</a:t>
            </a:r>
            <a:endParaRPr lang="en-US" sz="16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61FA62A8-033B-6182-4253-DF1D80DE19C2}"/>
              </a:ext>
            </a:extLst>
          </p:cNvPr>
          <p:cNvSpPr/>
          <p:nvPr/>
        </p:nvSpPr>
        <p:spPr>
          <a:xfrm>
            <a:off x="9244375" y="4720630"/>
            <a:ext cx="230965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Education</a:t>
            </a:r>
            <a:endParaRPr lang="en-US" sz="13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BAD79A-2F47-7612-481C-192C9AD1C3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075" y="6586906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D894BA71-55EE-9AB9-02B9-3F2C628C8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38" y="429169"/>
            <a:ext cx="11113971" cy="317019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FEC9611-7AB9-9821-9466-AC6869DB6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28" y="3824451"/>
            <a:ext cx="10985944" cy="2280102"/>
          </a:xfrm>
          <a:prstGeom prst="rect">
            <a:avLst/>
          </a:prstGeom>
        </p:spPr>
      </p:pic>
      <p:sp>
        <p:nvSpPr>
          <p:cNvPr id="73" name="Shape 10">
            <a:extLst>
              <a:ext uri="{FF2B5EF4-FFF2-40B4-BE49-F238E27FC236}">
                <a16:creationId xmlns:a16="http://schemas.microsoft.com/office/drawing/2014/main" id="{505CE038-39F9-6570-84B6-AAB5776C699A}"/>
              </a:ext>
            </a:extLst>
          </p:cNvPr>
          <p:cNvSpPr/>
          <p:nvPr/>
        </p:nvSpPr>
        <p:spPr>
          <a:xfrm>
            <a:off x="1144555" y="5722520"/>
            <a:ext cx="10444417" cy="607120"/>
          </a:xfrm>
          <a:prstGeom prst="roundRect">
            <a:avLst>
              <a:gd name="adj" fmla="val 3882"/>
            </a:avLst>
          </a:prstGeom>
          <a:solidFill>
            <a:srgbClr val="E7E7E4"/>
          </a:solidFill>
          <a:ln/>
        </p:spPr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625C6CE5-5AAC-5E38-C540-3DB3B84AF8B0}"/>
              </a:ext>
            </a:extLst>
          </p:cNvPr>
          <p:cNvSpPr/>
          <p:nvPr/>
        </p:nvSpPr>
        <p:spPr>
          <a:xfrm>
            <a:off x="1491120" y="5903495"/>
            <a:ext cx="1081080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automated academic progress tracking and degree audit is the imperative solution.</a:t>
            </a:r>
            <a:endParaRPr lang="en-US" sz="12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8B1F1B8A-61AE-C50E-2258-DEA111565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282" y="6586906"/>
            <a:ext cx="1447925" cy="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6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22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 &amp; Existing Limitations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43223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Existing System Limitations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6406"/>
            <a:ext cx="5252807" cy="11546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5547" y="1894284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Grade-Only Output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5547" y="2260699"/>
            <a:ext cx="48408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Traditional ERP systems surface only semester marks and grades (SGPA/CGPA) — no category-aware degree auditing.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14960"/>
            <a:ext cx="5252807" cy="11546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5547" y="3182838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Bucket Visibility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05547" y="3549253"/>
            <a:ext cx="48408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Students cannot identify remaining bucket credits or determine prerequisite eligibility for upcoming courses.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03514"/>
            <a:ext cx="5252807" cy="11546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5547" y="4471392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Static Curriculum Tools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5547" y="4837807"/>
            <a:ext cx="48408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simulation or roadmap generation for future semester planning under CBCS or DYOD tracks.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283763" y="1343223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Administrative Challenges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3763" y="1726406"/>
            <a:ext cx="5252807" cy="115460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27835" y="1894284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Cohort Dashboards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527835" y="2260699"/>
            <a:ext cx="48408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Faculty lack monitoring tools for cohort-level academic progress and at-risk student identification.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3763" y="3014960"/>
            <a:ext cx="5252807" cy="115460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27835" y="3182838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Paperwork-Driven Processes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6527835" y="3549253"/>
            <a:ext cx="48408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course additions and substitutions require physical paperwork with high approval latency.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3763" y="4303514"/>
            <a:ext cx="5252807" cy="115460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27835" y="4471392"/>
            <a:ext cx="484086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Prerequisite Validation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6527835" y="4837807"/>
            <a:ext cx="4840861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Zero real-time validation of prerequisite chains leads to enrollment errors and curriculum non-compliance.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61475" y="5759549"/>
            <a:ext cx="10868745" cy="555129"/>
          </a:xfrm>
          <a:prstGeom prst="roundRect">
            <a:avLst>
              <a:gd name="adj" fmla="val 4022"/>
            </a:avLst>
          </a:prstGeom>
          <a:solidFill>
            <a:srgbClr val="FFB3B4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9" y="5952827"/>
            <a:ext cx="186031" cy="14882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45154" y="5930702"/>
            <a:ext cx="10845826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Impact:</a:t>
            </a:r>
            <a:r>
              <a:rPr lang="en-US" sz="11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Graduation delays, credit deficits, and inefficient academic governance across entire cohorts.</a:t>
            </a:r>
            <a:endParaRPr lang="en-US" sz="11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1A57DE6-1FA6-EBE4-74F9-66185F00D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075" y="6581499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4838"/>
            <a:ext cx="2472767" cy="238820"/>
          </a:xfrm>
          <a:prstGeom prst="roundRect">
            <a:avLst>
              <a:gd name="adj" fmla="val 7895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651966"/>
            <a:ext cx="2893841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LITERATURE REVIEW &amp; RESEARCH GAP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03287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Literature Review &amp; Research Gap Analysis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767284"/>
            <a:ext cx="468003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Literature Findings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0360" y="2210147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64204" y="2234704"/>
            <a:ext cx="417730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Degree Audit &amp; DARS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4204" y="2629495"/>
            <a:ext cx="417730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degree audit engines reduce completion time and decrease administrative advising bottlenecks by over </a:t>
            </a:r>
            <a:r>
              <a:rPr lang="en-US" sz="1200" b="1" dirty="0">
                <a:solidFill>
                  <a:srgbClr val="C41E3A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40%</a:t>
            </a: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0360" y="3447703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164204" y="3472259"/>
            <a:ext cx="417730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Interactive Dashboards in 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4204" y="3867051"/>
            <a:ext cx="417730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Visual progress tracking via circular meters and category breakdowns improves student self-regulation and on-time course registration.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0360" y="4930428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164204" y="4954984"/>
            <a:ext cx="417730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CBCS Optimization Research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4204" y="5349776"/>
            <a:ext cx="417730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Multi-bucket credit mapping complexity in Indian universities demands rule-based validation engines to prevent graduation credit shortfalls.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31228" y="1767284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Gap Analysis: Existing ERP vs. Creditcore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31228" y="2180729"/>
          <a:ext cx="5805244" cy="3190298"/>
        </p:xfrm>
        <a:graphic>
          <a:graphicData uri="http://schemas.openxmlformats.org/drawingml/2006/table">
            <a:tbl>
              <a:tblPr/>
              <a:tblGrid>
                <a:gridCol w="162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Parameter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Existing ERP Systems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4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Proposed Creditcore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41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1E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Audit Engine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Static semester-wise grades only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Real-time multi-bucket credit fulfillment audit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Curriculum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Fixed rigid degree pathways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Dynamic DYOD / Specializations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Advising Workflows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Manual paperwork and email chains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RBAC with instant course approval flow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Bulk Administration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Slow record-by-record data entry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5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High-speed Excel batch ingestion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EF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478EDEA5-458C-49BF-AB78-F690A06A4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075" y="6465212"/>
            <a:ext cx="1447925" cy="3191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0297"/>
            <a:ext cx="825579" cy="213717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512465"/>
            <a:ext cx="1266496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31738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Research Objectives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350169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is designed around five core engineering objectives that directly address the identified gaps in existing academic management systems.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92573"/>
            <a:ext cx="10868745" cy="8434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236" y="1982490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62239" y="1852116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Degree Audit Engine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62239" y="2143323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evaluation of completed course credits against curriculum requirements across all CBCS buckets simultaneously.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5491"/>
            <a:ext cx="10868745" cy="8434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6236" y="2945408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362239" y="2815034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DYOD &amp; Degree Path Planner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62239" y="3106241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 roadmap generator for Honors, Minors, and Specialization tracks under the Design Your Own Degree framework.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18409"/>
            <a:ext cx="10868745" cy="8434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6236" y="3908326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362239" y="3777952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Role-Based Access Control (RBAC)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62239" y="4069159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multi-tier system serving Students, Faculty Advisors, and Department Admins with role-appropriate data and workflows.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81327"/>
            <a:ext cx="10868745" cy="8434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6236" y="4871244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362239" y="4740870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Bulk Upload Administration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362239" y="5032077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Excel parsers for curriculum schemas, course mappings, and student records — eliminating manual data entry overhead.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44245"/>
            <a:ext cx="10868745" cy="84345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6236" y="5834162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1362239" y="5703788"/>
            <a:ext cx="1000844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AI-Assisted CI/CD &amp; Notifications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1362239" y="5994995"/>
            <a:ext cx="10008441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Zero-downtime deployment pipeline with automated PR reviews via CodeRabbit AI and instant SMTP alerting for academic events.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345F741-7B0E-9DC3-3E64-9C07C4CEE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1880" y="6568813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7282"/>
            <a:ext cx="560274" cy="226219"/>
          </a:xfrm>
          <a:prstGeom prst="roundRect">
            <a:avLst>
              <a:gd name="adj" fmla="val 789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681930"/>
            <a:ext cx="991270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917079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Research Specification &amp; Scope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54321" y="1583134"/>
            <a:ext cx="3220659" cy="4637484"/>
          </a:xfrm>
          <a:prstGeom prst="roundRect">
            <a:avLst>
              <a:gd name="adj" fmla="val 693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03146" y="1717080"/>
            <a:ext cx="2923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Target Curricula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96" y="2081212"/>
            <a:ext cx="2942060" cy="6307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0069" y="2100263"/>
            <a:ext cx="27360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KL University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0069" y="2466677"/>
            <a:ext cx="273608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B.Tech Programs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96" y="2941737"/>
            <a:ext cx="2942060" cy="6307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0069" y="2960787"/>
            <a:ext cx="27360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Y23 CSE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90069" y="3327202"/>
            <a:ext cx="273608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Computer Science &amp; Engineering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96" y="3802261"/>
            <a:ext cx="2942060" cy="6307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0069" y="3821311"/>
            <a:ext cx="27360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Y23 AI&amp;DS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90069" y="4187726"/>
            <a:ext cx="273608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Artificial Intelligence &amp; Data Science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3146" y="4601865"/>
            <a:ext cx="2923010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03146" y="4808835"/>
            <a:ext cx="2923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Non-Functional Requirements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03146" y="5175250"/>
            <a:ext cx="2923010" cy="998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Response time: </a:t>
            </a:r>
            <a:r>
              <a:rPr lang="en-US" sz="11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&lt; 200 ms</a:t>
            </a: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all audit calculations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JWT-based stateless authentication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BCrypt password security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037308" y="1717080"/>
            <a:ext cx="749916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Module Coverage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4037308" y="2100263"/>
            <a:ext cx="2410360" cy="2347615"/>
          </a:xfrm>
          <a:prstGeom prst="roundRect">
            <a:avLst>
              <a:gd name="adj" fmla="val 951"/>
            </a:avLst>
          </a:prstGeom>
          <a:solidFill>
            <a:srgbClr val="E5DFD2"/>
          </a:solidFill>
          <a:ln/>
        </p:spPr>
      </p:sp>
      <p:sp>
        <p:nvSpPr>
          <p:cNvPr id="21" name="Text 16"/>
          <p:cNvSpPr/>
          <p:nvPr/>
        </p:nvSpPr>
        <p:spPr>
          <a:xfrm>
            <a:off x="4186133" y="2249091"/>
            <a:ext cx="2112711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Student Module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186133" y="2621855"/>
            <a:ext cx="2112711" cy="167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Profile management &amp; degree roadmap visualization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Bucket progress tracking &amp; course history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Add/swap course requests with real-time validation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581610" y="2100263"/>
            <a:ext cx="2410459" cy="2347615"/>
          </a:xfrm>
          <a:prstGeom prst="roundRect">
            <a:avLst>
              <a:gd name="adj" fmla="val 951"/>
            </a:avLst>
          </a:prstGeom>
          <a:solidFill>
            <a:srgbClr val="E5DFD2"/>
          </a:solidFill>
          <a:ln/>
        </p:spPr>
      </p:sp>
      <p:sp>
        <p:nvSpPr>
          <p:cNvPr id="24" name="Text 19"/>
          <p:cNvSpPr/>
          <p:nvPr/>
        </p:nvSpPr>
        <p:spPr>
          <a:xfrm>
            <a:off x="6730435" y="2249091"/>
            <a:ext cx="2112810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👨‍🏫</a:t>
            </a: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Faculty Module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730435" y="2621855"/>
            <a:ext cx="2112810" cy="95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Student roster and cohort statistics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Academic audit approval workflow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126012" y="2100263"/>
            <a:ext cx="2410360" cy="2347615"/>
          </a:xfrm>
          <a:prstGeom prst="roundRect">
            <a:avLst>
              <a:gd name="adj" fmla="val 951"/>
            </a:avLst>
          </a:prstGeom>
          <a:solidFill>
            <a:srgbClr val="E5DFD2"/>
          </a:solidFill>
          <a:ln/>
        </p:spPr>
      </p:sp>
      <p:sp>
        <p:nvSpPr>
          <p:cNvPr id="27" name="Text 22"/>
          <p:cNvSpPr/>
          <p:nvPr/>
        </p:nvSpPr>
        <p:spPr>
          <a:xfrm>
            <a:off x="9274836" y="2249091"/>
            <a:ext cx="2112711" cy="238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Admin Module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9274836" y="2621855"/>
            <a:ext cx="2112711" cy="122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Department configuration &amp; curriculum creation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course/mapping uploads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 generation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86A6243-D77B-965F-42FD-158EF0B39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584" y="6578279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8475"/>
            <a:ext cx="1172141" cy="238820"/>
          </a:xfrm>
          <a:prstGeom prst="roundRect">
            <a:avLst>
              <a:gd name="adj" fmla="val 7895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55730" y="545604"/>
            <a:ext cx="1593215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692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Proposed Methodology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511697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was engineered through a structured four-phase development methodology, progressing from raw data extraction to a production-grade CI/CD pipeline.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69914"/>
            <a:ext cx="5434373" cy="628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8534" y="2947591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Phase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534" y="3282652"/>
            <a:ext cx="512025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Extraction &amp; Modeling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Ingest university curriculum handbooks via Python scripts; create relational database schemas.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169914"/>
            <a:ext cx="5434373" cy="628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2907" y="2947591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Phase 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252907" y="3282652"/>
            <a:ext cx="512025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Backend Engine Development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Spring Boot REST APIs; implement credit aggregation, prerequisite checking, and bucket completion logic.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4720"/>
            <a:ext cx="5434373" cy="628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534" y="5042396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Phase 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18534" y="5377458"/>
            <a:ext cx="512025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Frontend Integration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Construct React 19 SPA with glassmorphic cards, responsive UI, and interactive progress bars.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64720"/>
            <a:ext cx="5434373" cy="628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52907" y="5042396"/>
            <a:ext cx="512025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Phase 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252907" y="5377458"/>
            <a:ext cx="5120254" cy="82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Validation &amp; CI/CD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Maven unit tests, ESLint checks, Vite builds, and CodeRabbit AI-assisted pull request reviews.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5B4D096-CD0C-90FC-C0C7-1292365F53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9198" y="6578279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4464"/>
            <a:ext cx="873798" cy="185539"/>
          </a:xfrm>
          <a:prstGeom prst="roundRect">
            <a:avLst>
              <a:gd name="adj" fmla="val 7897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34696" y="511076"/>
            <a:ext cx="1336939" cy="11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696020"/>
            <a:ext cx="1086874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Architecture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212751"/>
            <a:ext cx="11478330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follows a strict </a:t>
            </a: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three-layer architecture</a:t>
            </a: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ensuring clean separation of concerns between presentation, business logic, and data persistence.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1483916"/>
            <a:ext cx="10868745" cy="1067594"/>
          </a:xfrm>
          <a:prstGeom prst="roundRect">
            <a:avLst>
              <a:gd name="adj" fmla="val 1716"/>
            </a:avLst>
          </a:prstGeom>
          <a:solidFill>
            <a:srgbClr val="E5DFD2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1483916"/>
            <a:ext cx="3622882" cy="1067594"/>
          </a:xfrm>
          <a:custGeom>
            <a:avLst/>
            <a:gdLst/>
            <a:ahLst/>
            <a:cxnLst/>
            <a:rect l="l" t="t" r="r" b="b"/>
            <a:pathLst>
              <a:path w="3622882" h="1067594">
                <a:moveTo>
                  <a:pt x="15263" y="0"/>
                </a:moveTo>
                <a:lnTo>
                  <a:pt x="3622882" y="0"/>
                </a:lnTo>
                <a:lnTo>
                  <a:pt x="3622882" y="1067594"/>
                </a:lnTo>
                <a:lnTo>
                  <a:pt x="15263" y="1067594"/>
                </a:lnTo>
                <a:arcTo wR="15263" hR="15264" stAng="5400000" swAng="5400000"/>
                <a:lnTo>
                  <a:pt x="0" y="15264"/>
                </a:lnTo>
                <a:arcTo wR="15263" hR="15264" stAng="10800000" swAng="5400000"/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783511" y="1605955"/>
            <a:ext cx="33788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</a:t>
            </a: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Presentation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3511" y="1857077"/>
            <a:ext cx="3378810" cy="572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19 + Vite + React Router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Student Dashboard · Faculty Review Portal · Admin Portal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Crimson &amp; Alabaster UI with glassmorphism design system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84357" y="1483916"/>
            <a:ext cx="3622882" cy="1067594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1" name="Shape 9"/>
          <p:cNvSpPr/>
          <p:nvPr/>
        </p:nvSpPr>
        <p:spPr>
          <a:xfrm>
            <a:off x="4284357" y="1483916"/>
            <a:ext cx="12700" cy="1067594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2" name="Text 10"/>
          <p:cNvSpPr/>
          <p:nvPr/>
        </p:nvSpPr>
        <p:spPr>
          <a:xfrm>
            <a:off x="4406393" y="1605955"/>
            <a:ext cx="33788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Application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06393" y="1857077"/>
            <a:ext cx="3378810" cy="572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Spring Boot (Java 21) with Spring Security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 stateless authentication &amp; RBAC enforcement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Engine · Degree Path Controller · RBAC Services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07239" y="1483916"/>
            <a:ext cx="3622882" cy="1067594"/>
          </a:xfrm>
          <a:custGeom>
            <a:avLst/>
            <a:gdLst/>
            <a:ahLst/>
            <a:cxnLst/>
            <a:rect l="l" t="t" r="r" b="b"/>
            <a:pathLst>
              <a:path w="3622882" h="1067594">
                <a:moveTo>
                  <a:pt x="0" y="0"/>
                </a:moveTo>
                <a:lnTo>
                  <a:pt x="3607619" y="0"/>
                </a:lnTo>
                <a:arcTo wR="15263" hR="15264" stAng="16200000" swAng="5400000"/>
                <a:lnTo>
                  <a:pt x="3622882" y="1052330"/>
                </a:lnTo>
                <a:arcTo wR="15263" hR="15264" stAng="0" swAng="5400000"/>
                <a:lnTo>
                  <a:pt x="0" y="1067594"/>
                </a:lnTo>
                <a:lnTo>
                  <a:pt x="0" y="0"/>
                </a:lnTo>
                <a:close/>
              </a:path>
            </a:pathLst>
          </a:custGeom>
          <a:solidFill>
            <a:srgbClr val="E5DFD2"/>
          </a:solidFill>
          <a:ln/>
        </p:spPr>
      </p:sp>
      <p:sp>
        <p:nvSpPr>
          <p:cNvPr id="15" name="Shape 13"/>
          <p:cNvSpPr/>
          <p:nvPr/>
        </p:nvSpPr>
        <p:spPr>
          <a:xfrm>
            <a:off x="7907239" y="1483916"/>
            <a:ext cx="12700" cy="1067594"/>
          </a:xfrm>
          <a:prstGeom prst="roundRect">
            <a:avLst>
              <a:gd name="adj" fmla="val 49999"/>
            </a:avLst>
          </a:prstGeom>
          <a:solidFill>
            <a:srgbClr val="CBC5B8"/>
          </a:solidFill>
          <a:ln/>
        </p:spPr>
      </p:sp>
      <p:sp>
        <p:nvSpPr>
          <p:cNvPr id="16" name="Text 14"/>
          <p:cNvSpPr/>
          <p:nvPr/>
        </p:nvSpPr>
        <p:spPr>
          <a:xfrm>
            <a:off x="8029275" y="1605955"/>
            <a:ext cx="33788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</a:t>
            </a:r>
            <a:r>
              <a:rPr lang="en-US" sz="1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Data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29275" y="1857077"/>
            <a:ext cx="3378810" cy="572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 relational database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Supabase or Docker PostgreSQL deployment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HikariCP connection pooling for performance</a:t>
            </a:r>
            <a:endParaRPr lang="en-US" sz="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43" y="2652911"/>
            <a:ext cx="8151509" cy="37306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991074" y="3149413"/>
            <a:ext cx="1803213" cy="225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991074" y="3438936"/>
            <a:ext cx="1987542" cy="313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PostgreSQL with HikariCP connection pool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236820" y="4375629"/>
            <a:ext cx="1803213" cy="225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212777" y="4665152"/>
            <a:ext cx="1827256" cy="313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1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Spring Boot with JWT RBAC and audit engine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991074" y="5008773"/>
            <a:ext cx="1803213" cy="22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91074" y="5298296"/>
            <a:ext cx="1987542" cy="313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 19 SPA sends HTTP/JSON requests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4E8F3BB-2C0C-B34C-0882-C923216AE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075" y="6538823"/>
            <a:ext cx="1447925" cy="2951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6488"/>
            <a:ext cx="1563152" cy="213717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678656"/>
            <a:ext cx="2004069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9793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Backend Architecture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60274" y="1516360"/>
            <a:ext cx="4344085" cy="4705052"/>
          </a:xfrm>
          <a:prstGeom prst="roundRect">
            <a:avLst>
              <a:gd name="adj" fmla="val 485"/>
            </a:avLst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700765" y="1635820"/>
            <a:ext cx="406310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Spring Boot 3.x — Java 21 Core Stack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715" y="1970683"/>
            <a:ext cx="4082154" cy="793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9354" y="1989733"/>
            <a:ext cx="388451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79354" y="2328763"/>
            <a:ext cx="388451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Spring Security + JWT RBAC + BCrypt password hashing for all user tiers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715" y="2964755"/>
            <a:ext cx="4082154" cy="585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9354" y="2983805"/>
            <a:ext cx="388451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ORM &amp; Persistence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79354" y="3322836"/>
            <a:ext cx="388451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Spring Data JPA / Hibernate with HikariCP connection pooling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715" y="3750766"/>
            <a:ext cx="4082154" cy="585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9354" y="3769816"/>
            <a:ext cx="388451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79354" y="4108847"/>
            <a:ext cx="388451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Stateless JWT tokens with expiring password reset tokens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152400" y="1635820"/>
            <a:ext cx="6384071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REST API Controllers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2400" y="1989733"/>
            <a:ext cx="3132258" cy="12823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88138" y="2149277"/>
            <a:ext cx="27369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StudentController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388138" y="2488307"/>
            <a:ext cx="273698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Academic audit, student profile, and course enrollment history endpoints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4114" y="1989733"/>
            <a:ext cx="3132357" cy="12823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39852" y="2149277"/>
            <a:ext cx="273707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BucketProgressController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639852" y="2488307"/>
            <a:ext cx="2737079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 fulfillment per category: Core, Electives, Humanities, Management, Skill Development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2400" y="3391495"/>
            <a:ext cx="3132258" cy="107424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88138" y="3551039"/>
            <a:ext cx="27369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DegreePathController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5388138" y="3890070"/>
            <a:ext cx="273698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Degree completion roadmaps and path recommendations for DYOD tracks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4114" y="3391495"/>
            <a:ext cx="3132357" cy="1074241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39852" y="3551039"/>
            <a:ext cx="273707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CurriculumAdminController</a:t>
            </a:r>
            <a:endParaRPr lang="en-US" sz="1350" dirty="0"/>
          </a:p>
        </p:txBody>
      </p:sp>
      <p:sp>
        <p:nvSpPr>
          <p:cNvPr id="28" name="Text 19"/>
          <p:cNvSpPr/>
          <p:nvPr/>
        </p:nvSpPr>
        <p:spPr>
          <a:xfrm>
            <a:off x="8639852" y="3890070"/>
            <a:ext cx="273707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Course structure and curriculum management for department administrators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2400" y="4585196"/>
            <a:ext cx="3132258" cy="150187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88138" y="4744740"/>
            <a:ext cx="27369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CurriculumBulkUploadController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5388138" y="5083770"/>
            <a:ext cx="273698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Excel batch uploads for courses and course-curriculum mappings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4114" y="4585196"/>
            <a:ext cx="3132357" cy="150187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639852" y="4744740"/>
            <a:ext cx="2737079" cy="43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Faculty, SuperAdmin &amp; ReportController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8639852" y="5303341"/>
            <a:ext cx="2737079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Role-specific operations, system administration, and academic report generation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1C6579C-D0C2-CA17-CB81-3DD2E9C7AF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968" y="6521570"/>
            <a:ext cx="1447925" cy="3364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25141"/>
            <a:ext cx="866257" cy="251420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174750"/>
            <a:ext cx="127740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426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Initial Implementation &amp; Progress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0741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Creditcore's core components are rapidly advancing, with key functionalities already implemented and tested across the backend, database, frontend, and CI/CD pipeline.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22687"/>
            <a:ext cx="2593216" cy="281017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4013" y="3065661"/>
            <a:ext cx="248041" cy="248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19" y="3603129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45819" y="3960813"/>
            <a:ext cx="222452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100% operational</a:t>
            </a: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core REST APIs, including secure JWT authentication, robust password recovery mechanisms, and advanced audit calculation services.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9985" y="2922687"/>
            <a:ext cx="2593216" cy="281017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2523" y="3065661"/>
            <a:ext cx="248041" cy="24804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04329" y="3603129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3604329" y="3960813"/>
            <a:ext cx="222452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normalized relational schema established, with comprehensive baseline data loaded for both Y23 CSE and AI&amp;DS curricula, ensuring system readiness.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922687"/>
            <a:ext cx="2593216" cy="2810173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51033" y="3065661"/>
            <a:ext cx="248041" cy="24804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62838" y="3603129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6362838" y="3960813"/>
            <a:ext cx="222452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Functional student, faculty, and admin interfaces, featuring real-time credit charts for visual progress tracking and efficient batch student registration.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7005" y="2922687"/>
            <a:ext cx="2593216" cy="2810173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09542" y="3065661"/>
            <a:ext cx="248041" cy="24804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121348" y="3603129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CI/CD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9121348" y="3960813"/>
            <a:ext cx="222452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backend build pipeline, meticulous frontend linting checks, and robust Docker verification steps integrated for continuous delivery and quality assurance.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75ABFD0-77A4-F2C2-D6DF-3060115974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075" y="6593296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2781"/>
            <a:ext cx="712373" cy="213717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45809" y="704949"/>
            <a:ext cx="1153290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24223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Core System Features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542653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streamlines academic management with a suite of powerful, interconnected features designed for efficiency and accuracy.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85057"/>
            <a:ext cx="351424" cy="3514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385814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Degree Audit Engine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2677021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validation of all completed credits against program requirements and academic policies.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163" y="1885057"/>
            <a:ext cx="351424" cy="3514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4163" y="2385814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Bucket-wise Credit Tracking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334163" y="2677021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Monitors credit fulfillment across core, elective, and specialized academic categories for precise progress.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6852" y="1885057"/>
            <a:ext cx="351424" cy="3514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6852" y="2385814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Personalized Degree Roadmaps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006852" y="2677021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 visualization of academic progression and future course planning to guide students effectively.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32063"/>
            <a:ext cx="351424" cy="3514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3832820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Design Your Own Degree (DYOD)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61475" y="4124027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Supports flexible academic planning for Honors, Minors, and specialized tracks under the DYOD framework.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4163" y="3332063"/>
            <a:ext cx="351424" cy="3514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34163" y="3832820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Prerequisite Validation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334163" y="4124027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Automatically checks and enforces course prerequisites during enrollment to ensure academic integrity.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6852" y="3332063"/>
            <a:ext cx="351424" cy="35143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06852" y="3832820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Role-Based Access Control (RBAC)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8006852" y="4124027"/>
            <a:ext cx="3523368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access levels tailored for students, faculty advisors, and administrators with appropriate permissions.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987131"/>
            <a:ext cx="351424" cy="35143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1475" y="5487888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Bulk Excel Ingestion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661475" y="5779095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import of curriculum data, course mappings, and student records via Excel files.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4163" y="4987131"/>
            <a:ext cx="351424" cy="35143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334163" y="5487888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Comprehensive Curriculum Management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4334163" y="5779095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 for creating, editing, and managing all academic program structures and course definitions.</a:t>
            </a:r>
            <a:endParaRPr lang="en-US" sz="11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06852" y="4987131"/>
            <a:ext cx="351424" cy="35143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006852" y="5487888"/>
            <a:ext cx="352336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Intuitive User Portals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8006852" y="5779095"/>
            <a:ext cx="352336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Dedicated dashboards and workflows for students, faculty, and administrative staff for enhanced usability.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65CBBD-3AA4-D227-FD7A-CB48B58D63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1880" y="6521570"/>
            <a:ext cx="1447925" cy="3062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470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Roles &amp; Workflow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089124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is designed with distinct user roles, each accessing tailored portals to streamline specific academic processes and ensure secure, efficient operations.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09588"/>
            <a:ext cx="3576350" cy="137566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8987" y="1402854"/>
            <a:ext cx="161226" cy="1612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1626" y="1714599"/>
            <a:ext cx="33360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Student Portal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81626" y="1924348"/>
            <a:ext cx="3336048" cy="64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View academic progress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credits &amp; bucket progress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View personalized degree roadmap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Request course additions/swaps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7673" y="1309588"/>
            <a:ext cx="3576350" cy="137566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185" y="1402854"/>
            <a:ext cx="161226" cy="1612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427824" y="1714599"/>
            <a:ext cx="33360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Faculty Portal</a:t>
            </a:r>
            <a:endParaRPr lang="en-US" sz="1050" dirty="0"/>
          </a:p>
        </p:txBody>
      </p:sp>
      <p:sp>
        <p:nvSpPr>
          <p:cNvPr id="11" name="Text 5"/>
          <p:cNvSpPr/>
          <p:nvPr/>
        </p:nvSpPr>
        <p:spPr>
          <a:xfrm>
            <a:off x="4427824" y="1924348"/>
            <a:ext cx="3336048" cy="64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student progress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academic performance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View cohort statistics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academic requests</a:t>
            </a:r>
            <a:endParaRPr lang="en-US" sz="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3871" y="1309588"/>
            <a:ext cx="3576350" cy="1375668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1383" y="1402854"/>
            <a:ext cx="161226" cy="16123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074021" y="1714599"/>
            <a:ext cx="33360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Admin Portal</a:t>
            </a:r>
            <a:endParaRPr lang="en-US" sz="1050" dirty="0"/>
          </a:p>
        </p:txBody>
      </p:sp>
      <p:sp>
        <p:nvSpPr>
          <p:cNvPr id="15" name="Text 7"/>
          <p:cNvSpPr/>
          <p:nvPr/>
        </p:nvSpPr>
        <p:spPr>
          <a:xfrm>
            <a:off x="8074021" y="1924348"/>
            <a:ext cx="3336048" cy="640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 users &amp; permissions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Configure departments &amp; curriculum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upload course/mapping data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comprehensive reports</a:t>
            </a:r>
            <a:endParaRPr lang="en-US" sz="8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1345" y="2763838"/>
            <a:ext cx="3948907" cy="348059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275285" y="5387835"/>
            <a:ext cx="1405142" cy="17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Student Request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4225324" y="5613444"/>
            <a:ext cx="1505064" cy="231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Submit forms and supporting documents</a:t>
            </a:r>
            <a:endParaRPr lang="en-US" sz="850" dirty="0"/>
          </a:p>
        </p:txBody>
      </p:sp>
      <p:sp>
        <p:nvSpPr>
          <p:cNvPr id="19" name="Text 10"/>
          <p:cNvSpPr/>
          <p:nvPr/>
        </p:nvSpPr>
        <p:spPr>
          <a:xfrm>
            <a:off x="5405644" y="3162873"/>
            <a:ext cx="1405142" cy="17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Faculty Review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355683" y="3388482"/>
            <a:ext cx="1505064" cy="231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or deny requests promptly</a:t>
            </a:r>
            <a:endParaRPr lang="en-US" sz="850" dirty="0"/>
          </a:p>
        </p:txBody>
      </p:sp>
      <p:sp>
        <p:nvSpPr>
          <p:cNvPr id="21" name="Text 12"/>
          <p:cNvSpPr/>
          <p:nvPr/>
        </p:nvSpPr>
        <p:spPr>
          <a:xfrm>
            <a:off x="6511023" y="5387835"/>
            <a:ext cx="1405143" cy="17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Admin Management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6461062" y="5613444"/>
            <a:ext cx="1505064" cy="231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Oversee system and audit actions</a:t>
            </a:r>
            <a:endParaRPr lang="en-US" sz="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48892F8-A91A-8817-6DC8-308F1AD814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6106" y="6515869"/>
            <a:ext cx="1447925" cy="3421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2103"/>
            <a:ext cx="936899" cy="251420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001713"/>
            <a:ext cx="13480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OUTCOMES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696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Expected Outcomes &amp; Impact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3438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is poised to deliver significant improvements in academic efficiency, student success, and administrative control, transforming the way higher education institutions manage their degree programs.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49649"/>
            <a:ext cx="3622882" cy="6614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6769" y="3576439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Zero Credit Deficit Surprises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6769" y="3934123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Proactive, real-time warnings for unmet course requirements, ensuring students stay on track.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749649"/>
            <a:ext cx="3622882" cy="6614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9651" y="3576439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80% Reduction in Advising Time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49651" y="3934123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faculty verification and approval processes, freeing up valuable advisor resources.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749649"/>
            <a:ext cx="3622882" cy="6614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72533" y="3576439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Centralized Curriculum Lifecycle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072533" y="3934123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Dynamic and unified management of all curriculum, prerequisite, and specialization definitions.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1475" y="5244604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E7E7E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69" y="5484316"/>
            <a:ext cx="206667" cy="1652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8731" y="545117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A key measurable outcome is the </a:t>
            </a:r>
            <a:r>
              <a:rPr lang="en-US" sz="13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80% reduction in advising time</a:t>
            </a:r>
            <a:r>
              <a:rPr lang="en-US" sz="13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allowing faculty to focus on mentorship rather than administrative tasks.     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7FCE6D-3914-751C-5EF3-4B7ACE1E44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075" y="6574583"/>
            <a:ext cx="1447925" cy="2057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35955"/>
            <a:ext cx="1435064" cy="251420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185565"/>
            <a:ext cx="184621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IMPACT &amp;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534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Impact &amp; Benefits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1823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is designed to deliver transformative advantages across all levels of the academic institution, fostering efficiency, clarity, and empowerment for every stakeholder.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933502"/>
            <a:ext cx="2593216" cy="2788444"/>
          </a:xfrm>
          <a:prstGeom prst="roundRect">
            <a:avLst>
              <a:gd name="adj" fmla="val 957"/>
            </a:avLst>
          </a:prstGeom>
          <a:solidFill>
            <a:srgbClr val="E5DFD2"/>
          </a:solidFill>
          <a:ln/>
        </p:spPr>
      </p:sp>
      <p:sp>
        <p:nvSpPr>
          <p:cNvPr id="7" name="Shape 5"/>
          <p:cNvSpPr/>
          <p:nvPr/>
        </p:nvSpPr>
        <p:spPr>
          <a:xfrm>
            <a:off x="826769" y="3098800"/>
            <a:ext cx="496081" cy="496094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92" y="3235127"/>
            <a:ext cx="223237" cy="2232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6769" y="3760192"/>
            <a:ext cx="22626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6769" y="4117876"/>
            <a:ext cx="2262627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Better academic planning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credit visibility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graduation uncertainty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19985" y="2933502"/>
            <a:ext cx="2593216" cy="2788444"/>
          </a:xfrm>
          <a:prstGeom prst="roundRect">
            <a:avLst>
              <a:gd name="adj" fmla="val 957"/>
            </a:avLst>
          </a:prstGeom>
          <a:solidFill>
            <a:srgbClr val="E5DFD2"/>
          </a:solidFill>
          <a:ln/>
        </p:spPr>
      </p:sp>
      <p:sp>
        <p:nvSpPr>
          <p:cNvPr id="12" name="Shape 9"/>
          <p:cNvSpPr/>
          <p:nvPr/>
        </p:nvSpPr>
        <p:spPr>
          <a:xfrm>
            <a:off x="3585279" y="3098800"/>
            <a:ext cx="496081" cy="496094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1701" y="3235127"/>
            <a:ext cx="223237" cy="2232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5279" y="3760192"/>
            <a:ext cx="22626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Faculty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85279" y="4117876"/>
            <a:ext cx="2262627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manual auditing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Faster approvals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Cohort monitoring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78495" y="2933502"/>
            <a:ext cx="2593216" cy="2788444"/>
          </a:xfrm>
          <a:prstGeom prst="roundRect">
            <a:avLst>
              <a:gd name="adj" fmla="val 957"/>
            </a:avLst>
          </a:prstGeom>
          <a:solidFill>
            <a:srgbClr val="E5DFD2"/>
          </a:solidFill>
          <a:ln/>
        </p:spPr>
      </p:sp>
      <p:sp>
        <p:nvSpPr>
          <p:cNvPr id="17" name="Shape 13"/>
          <p:cNvSpPr/>
          <p:nvPr/>
        </p:nvSpPr>
        <p:spPr>
          <a:xfrm>
            <a:off x="6343789" y="3098800"/>
            <a:ext cx="496081" cy="496094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0211" y="3235127"/>
            <a:ext cx="223237" cy="2232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3789" y="3760192"/>
            <a:ext cx="22626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43789" y="4117876"/>
            <a:ext cx="2262627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Centralized curriculum management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Bulk data ingestion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reporting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937005" y="2933502"/>
            <a:ext cx="2593216" cy="2788444"/>
          </a:xfrm>
          <a:prstGeom prst="roundRect">
            <a:avLst>
              <a:gd name="adj" fmla="val 957"/>
            </a:avLst>
          </a:prstGeom>
          <a:solidFill>
            <a:srgbClr val="E5DFD2"/>
          </a:solidFill>
          <a:ln/>
        </p:spPr>
      </p:sp>
      <p:sp>
        <p:nvSpPr>
          <p:cNvPr id="22" name="Shape 17"/>
          <p:cNvSpPr/>
          <p:nvPr/>
        </p:nvSpPr>
        <p:spPr>
          <a:xfrm>
            <a:off x="9102299" y="3098800"/>
            <a:ext cx="496081" cy="496094"/>
          </a:xfrm>
          <a:prstGeom prst="ellipse">
            <a:avLst/>
          </a:prstGeom>
          <a:solidFill>
            <a:srgbClr val="28282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8721" y="3235127"/>
            <a:ext cx="223237" cy="2232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02299" y="3760192"/>
            <a:ext cx="22626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02299" y="4117876"/>
            <a:ext cx="2262627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Improved academic governance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degree auditing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Reduced administrative workload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778A7F-841A-0160-0BAA-1184C0BF4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7691" y="6554169"/>
            <a:ext cx="1057207" cy="2339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6987"/>
            <a:ext cx="780237" cy="226219"/>
          </a:xfrm>
          <a:prstGeom prst="roundRect">
            <a:avLst>
              <a:gd name="adj" fmla="val 7896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41635"/>
            <a:ext cx="121123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678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475" y="1442839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fundamentally redefines academic administration by converting complex, manual processes into a seamless, intelligent platform. Our solution offers unparalleled clarity and efficiency across the entire institution.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045990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279948"/>
            <a:ext cx="5367402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392462"/>
            <a:ext cx="53674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Automated Audit Platform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2705298"/>
            <a:ext cx="536740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Transforms manual academic record tracking into an efficient, automated audit system.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62818" y="2045990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62818" y="2279948"/>
            <a:ext cx="5367402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6162818" y="2392462"/>
            <a:ext cx="53674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Modern Tech Stack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62818" y="2705298"/>
            <a:ext cx="536740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Combines a dynamic React frontend with a robust Spring Boot backend for optimal performance.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1475" y="3403302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3637260"/>
            <a:ext cx="5367402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3749774"/>
            <a:ext cx="53674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Tracking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062611"/>
            <a:ext cx="536740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Provides instant credit and degree progress updates for all users.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62818" y="3403302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62818" y="3637260"/>
            <a:ext cx="5367402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0" name="Text 18"/>
          <p:cNvSpPr/>
          <p:nvPr/>
        </p:nvSpPr>
        <p:spPr>
          <a:xfrm>
            <a:off x="6162818" y="3749774"/>
            <a:ext cx="53674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Multi-User Support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62818" y="4062611"/>
            <a:ext cx="536740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Tailored experiences for students, faculty, and administrators, enhancing their unique workflows.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1475" y="4760615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1475" y="4994573"/>
            <a:ext cx="5367402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107087"/>
            <a:ext cx="53674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Flexible Planning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1475" y="5419923"/>
            <a:ext cx="536740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Enables Design Your Own Degree (DYOD) and comprehensive specialization planning.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62818" y="4760615"/>
            <a:ext cx="2976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62818" y="4994573"/>
            <a:ext cx="5367402" cy="1905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8" name="Text 26"/>
          <p:cNvSpPr/>
          <p:nvPr/>
        </p:nvSpPr>
        <p:spPr>
          <a:xfrm>
            <a:off x="6162818" y="5107087"/>
            <a:ext cx="536740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Enhanced Governance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162818" y="5419923"/>
            <a:ext cx="536740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Significantly improves academic governance and data-driven decision-making.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6682" y="6134695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</a:t>
            </a:r>
            <a:endParaRPr lang="en-US" sz="11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E14EE37-6E84-297C-65B7-6E92B8269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760" y="6441280"/>
            <a:ext cx="1089660" cy="3429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20639"/>
            <a:ext cx="1011708" cy="251420"/>
          </a:xfrm>
          <a:prstGeom prst="roundRect">
            <a:avLst>
              <a:gd name="adj" fmla="val 7894"/>
            </a:avLst>
          </a:prstGeom>
          <a:solidFill>
            <a:srgbClr val="E7E7E4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670248"/>
            <a:ext cx="142286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9381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Supporting Research &amp; Documentation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70291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methodology and system design are grounded in established academic research and robust technical documentation, ensuring both pedagogical efficacy and technical excellence.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418185"/>
            <a:ext cx="10868745" cy="181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NADA: NMSU Advising Degree Audit System -</a:t>
            </a:r>
            <a:r>
              <a:rPr lang="en-US" sz="1300" b="1" u="sng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  <a:hlinkClick r:id="rId3"/>
              </a:rPr>
              <a:t>https://www.researchgate.net/publication/2806123_NADA_NMSU_Advising_Degree_Audit_System</a:t>
            </a:r>
            <a:endParaRPr lang="en-US" sz="1300" b="1" u="sng" dirty="0">
              <a:solidFill>
                <a:srgbClr val="282824"/>
              </a:solidFill>
              <a:latin typeface="Lato Bold" pitchFamily="34" charset="0"/>
              <a:ea typeface="Lato Bold" pitchFamily="34" charset="-122"/>
              <a:cs typeface="Lato Bold" pitchFamily="34" charset="-120"/>
            </a:endParaRPr>
          </a:p>
          <a:p>
            <a:pPr marL="264160" indent="-264160">
              <a:buSzPct val="100000"/>
              <a:buFont typeface="+mj-lt"/>
              <a:buAutoNum type="arabicPeriod"/>
            </a:pPr>
            <a:r>
              <a:rPr lang="en-IN" sz="1400" b="1" dirty="0">
                <a:hlinkClick r:id="rId4"/>
              </a:rPr>
              <a:t>Incorporating an LMS learning analytic into proactive advising: Validity and use in a randomized experiment - ScienceDirect</a:t>
            </a:r>
            <a:endParaRPr lang="en-US" sz="1300" b="1" u="sng" dirty="0">
              <a:solidFill>
                <a:srgbClr val="282824"/>
              </a:solidFill>
              <a:latin typeface="Lato Bold" pitchFamily="34" charset="0"/>
              <a:ea typeface="Lato Bold" pitchFamily="34" charset="-122"/>
              <a:cs typeface="Lato Bold" pitchFamily="34" charset="-120"/>
            </a:endParaRPr>
          </a:p>
          <a:p>
            <a:pPr marL="264160" indent="-26416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IN" sz="1400" b="1" dirty="0">
                <a:hlinkClick r:id="rId5"/>
              </a:rPr>
              <a:t>Degree Audit Reporting System (DARS): What Works and What is Needed</a:t>
            </a:r>
            <a:endParaRPr lang="en-US" sz="1300" b="1" dirty="0"/>
          </a:p>
          <a:p>
            <a:pPr marL="264160" indent="-264160">
              <a:buSzPct val="100000"/>
              <a:buFont typeface="+mj-lt"/>
              <a:buAutoNum type="arabicPeriod" startAt="5"/>
            </a:pPr>
            <a:r>
              <a:rPr lang="en-IN" sz="1400" b="1" dirty="0">
                <a:hlinkClick r:id="rId6"/>
              </a:rPr>
              <a:t>Associations between learning analytics dashboard exposure and motivation and self-regulated learning - ScienceDirect</a:t>
            </a:r>
            <a:endParaRPr lang="en-US" sz="13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F7B996-2916-20D4-FF72-3479D04695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0" y="6593205"/>
            <a:ext cx="180975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2097"/>
            <a:ext cx="10868745" cy="155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Thank You</a:t>
            </a:r>
            <a:endParaRPr lang="en-US" sz="9750" dirty="0"/>
          </a:p>
        </p:txBody>
      </p:sp>
      <p:sp>
        <p:nvSpPr>
          <p:cNvPr id="3" name="Text 1"/>
          <p:cNvSpPr/>
          <p:nvPr/>
        </p:nvSpPr>
        <p:spPr>
          <a:xfrm>
            <a:off x="661475" y="3970635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Creditcore enables students and academic teams to make faster, clearer, and more informed degree-planning decisions.</a:t>
            </a: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AD2DF5-6D82-699F-663F-C80572CD1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1" y="6515564"/>
            <a:ext cx="1082082" cy="304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828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1812</Words>
  <Application>Microsoft Office PowerPoint</Application>
  <PresentationFormat>Widescreen</PresentationFormat>
  <Paragraphs>294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Lato Bold</vt:lpstr>
      <vt:lpstr>Lato Light</vt:lpstr>
      <vt:lpstr>Lato</vt:lpstr>
      <vt:lpstr>Twemoji Mozilla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KODALI PAVANI</cp:lastModifiedBy>
  <cp:revision>2</cp:revision>
  <dcterms:created xsi:type="dcterms:W3CDTF">2026-09-08T16:07:59Z</dcterms:created>
  <dcterms:modified xsi:type="dcterms:W3CDTF">2026-09-08T16:39:08Z</dcterms:modified>
</cp:coreProperties>
</file>